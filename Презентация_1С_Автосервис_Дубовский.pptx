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9" r:id="rId20"/>
    <p:sldId id="280" r:id="rId21"/>
    <p:sldId id="282" r:id="rId22"/>
    <p:sldId id="284" r:id="rId23"/>
    <p:sldId id="285" r:id="rId24"/>
    <p:sldId id="335" r:id="rId25"/>
    <p:sldId id="287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4" r:id="rId37"/>
    <p:sldId id="315" r:id="rId38"/>
    <p:sldId id="316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9" r:id="rId50"/>
    <p:sldId id="330" r:id="rId51"/>
    <p:sldId id="331" r:id="rId52"/>
    <p:sldId id="332" r:id="rId53"/>
    <p:sldId id="333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85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182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Индивидуальное задание по дисциплине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794936"/>
            <a:ext cx="10789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«Учет оказанных услуг и материалов в автосервисе»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761425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ВПК-8. Введение в разработку на платформе 1С: </a:t>
            </a:r>
            <a:r>
              <a:rPr lang="en-US" sz="24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Предприятие</a:t>
            </a:r>
            <a:endParaRPr lang="en-US" sz="24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5438875"/>
            <a:ext cx="6126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Выполнил: ст.гр. КТбо3-2, Дубовский Э.В.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Принял: Ассистент каф. САиТ, Борисов А.Ю.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Таганрог 2026 г.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1500" y="5715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1C: Предприятие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816944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553893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1.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Цель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работы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2.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Актуальность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автоматизации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автосервиса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3.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Основные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задачи отчета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2940" y="955067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назначение разработки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515739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процессов автосервиса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46407"/>
            <a:ext cx="994650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6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конфигурации на платформе 1С: Предприятие 8.3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1891121"/>
            <a:ext cx="10515600" cy="15896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	</a:t>
            </a: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Целью работы является разработка конфигурации на платформе 1С: Предприятие 8.3 для автоматизации процессов автосервиса. Разрабатываемая конфигурация предназначена для учета клиентов, договоров, номенклатуры услуг и материалов, складских остатков, поступления материалов, оказанных услуг, продаж и аналитической отчетности.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Актуальность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темы</a:t>
            </a:r>
            <a:endParaRPr lang="en-US" sz="3200" b="1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5934" y="1106424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Проблемы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ручного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учета</a:t>
            </a:r>
            <a:endParaRPr lang="en-US" sz="16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1" y="1289304"/>
            <a:ext cx="10789920" cy="16401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	А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втосервис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каждый день выполняет ремонтные работы и использует запчасти и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материалы</a:t>
            </a: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. Также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ведется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учет мастеров и взаимодействие с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клиентами</a:t>
            </a: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. П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ри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ручном учете повышается риск неверного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списания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материалов</a:t>
            </a: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возникает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отсутствие контроля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минимальных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запасов</a:t>
            </a: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, а также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усложняется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анализ выручки и эффективности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сотрудников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отчета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69918" y="1057576"/>
            <a:ext cx="2945571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Что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раскрывает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работа</a:t>
            </a:r>
            <a:endParaRPr lang="en-US" sz="16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9918" y="1411064"/>
            <a:ext cx="10714362" cy="186790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	</a:t>
            </a:r>
            <a:r>
              <a:rPr lang="ru-RU" sz="1900" dirty="0">
                <a:solidFill>
                  <a:srgbClr val="222222"/>
                </a:solidFill>
                <a:cs typeface="Arial" pitchFamily="34" charset="-120"/>
              </a:rPr>
              <a:t>Основными задачами отчета являются описание бизнес-сценария автосервиса, перечисление объектов конфигурации, объяснение логики работы приложения, а также подготовка инструкции для пользователя системы.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Пользователь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получает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возможность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быстро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оформлять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поступление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материалов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создавать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документ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оказания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услуг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рассчитывать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итоговую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сумму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распечатывать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документы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и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формировать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отчеты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по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складам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клиентам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 и </a:t>
            </a:r>
            <a:r>
              <a:rPr lang="en-US" sz="1900" dirty="0" err="1">
                <a:solidFill>
                  <a:srgbClr val="222222"/>
                </a:solidFill>
                <a:cs typeface="Arial" pitchFamily="34" charset="-120"/>
              </a:rPr>
              <a:t>мастерам</a:t>
            </a:r>
            <a:r>
              <a:rPr lang="en-US" sz="1900" dirty="0">
                <a:solidFill>
                  <a:srgbClr val="222222"/>
                </a:solidFill>
                <a:cs typeface="Arial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бизнес-сценария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90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cs typeface="Arial" pitchFamily="34" charset="-120"/>
              </a:rPr>
              <a:t>1C: </a:t>
            </a:r>
            <a:r>
              <a:rPr lang="en-US" sz="1600" b="1" dirty="0" err="1">
                <a:solidFill>
                  <a:srgbClr val="D71920"/>
                </a:solidFill>
                <a:latin typeface="Arial" pitchFamily="34" charset="0"/>
                <a:cs typeface="Arial" pitchFamily="34" charset="-120"/>
              </a:rPr>
              <a:t>Предприятие</a:t>
            </a:r>
            <a:endParaRPr lang="en-US" sz="1600" b="1" dirty="0">
              <a:solidFill>
                <a:srgbClr val="D7192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81092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бизнес-сценария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1408416"/>
            <a:ext cx="3474720" cy="100463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1.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Пользователи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системы</a:t>
            </a: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2.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Типовой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сценарий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работы</a:t>
            </a: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3.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Блок-схемы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ключевых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процессов</a:t>
            </a: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Автоматизируемые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процессы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автосервиса</a:t>
            </a:r>
            <a:endParaRPr lang="en-US" sz="3200" b="1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9114" y="1040010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Система разработана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для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автосервиса</a:t>
            </a:r>
            <a:endParaRPr lang="en-US" sz="16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10561320" cy="193924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	Конфигурация автоматизирует следующие процессы: ведение справочников клиентов, договоров, сотрудников, складов и номенклатуры; учет поступления материалов на склад; оформление документов оказания услуг; списание материалов при выполнении работ; хранение цен и норм запасов; контроль остатков; формирование управленческих отчетов.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Типовой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сценарий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работы</a:t>
            </a:r>
            <a:endParaRPr lang="en-US" sz="3200" b="1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001268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От справочников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до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отчетов</a:t>
            </a:r>
            <a:endParaRPr lang="en-US" sz="16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088136"/>
            <a:ext cx="10652760" cy="32704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	Типовой сценарий работы начинается с заполнения нормативно-справочной информации. Затем сотрудник склада оформляет приходную накладную на поступившие материалы. При обращении клиента администратор выбирает клиента, договор, мастера и склад, после чего создает документ «Оказание услуг». В документ добавляются услуги и материалы, указывается количество и цена, система рассчитывает сумму и при проведении записывает движения в регистры. После проведения документов администратор может получить отчеты: остатки материалов на складах, прайс-лист, цены закупки, продажи по клиентам, продажи по мастерам и рейтинг услуг. Для контроля склада предусмотрена обработка проверки запасов и регламентное задание, которое периодически анализирует остатки относительно заданных норм.</a:t>
            </a: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150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Оформление документа «Оказание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услуг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  <p:sp>
        <p:nvSpPr>
          <p:cNvPr id="8" name="Text 6"/>
          <p:cNvSpPr/>
          <p:nvPr/>
        </p:nvSpPr>
        <p:spPr>
          <a:xfrm>
            <a:off x="576914" y="978409"/>
            <a:ext cx="10807366" cy="1085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Пользователь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открывает раздел «Оказание услуг», создает новый документ и заполняет основные реквизиты: клиента, договор, мастера и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склад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. Затем в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табличную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часть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вносятся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номенклатура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количество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,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цена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и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сумма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.</a:t>
            </a:r>
          </a:p>
        </p:txBody>
      </p:sp>
      <p:sp>
        <p:nvSpPr>
          <p:cNvPr id="10" name="Text 7"/>
          <p:cNvSpPr/>
          <p:nvPr/>
        </p:nvSpPr>
        <p:spPr>
          <a:xfrm>
            <a:off x="2686200" y="5899428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Рисунок 1 – Блок-схема бизнес-процесса оформление документов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оказания</a:t>
            </a:r>
            <a:r>
              <a:rPr lang="en-US" sz="1600" dirty="0">
                <a:solidFill>
                  <a:srgbClr val="222222"/>
                </a:solidFill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cs typeface="Arial" pitchFamily="34" charset="-120"/>
              </a:rPr>
              <a:t>услуг</a:t>
            </a:r>
            <a:endParaRPr lang="en-US" sz="1600" dirty="0">
              <a:solidFill>
                <a:srgbClr val="222222"/>
              </a:solidFill>
              <a:cs typeface="Arial" pitchFamily="34" charset="-12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32E7FC-49F1-1D36-7579-80C90A33E6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8" r="6281" b="8556"/>
          <a:stretch/>
        </p:blipFill>
        <p:spPr bwMode="auto">
          <a:xfrm>
            <a:off x="3126105" y="2063417"/>
            <a:ext cx="5566711" cy="3691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остатков материалов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4840" y="973836"/>
            <a:ext cx="10759440" cy="10955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запасов запускается вручную через обработку «Проверка запасов» или автоматически регламентным заданием «ПроверкаЗапасовКаждые5Минут». Система получает текущие остатки и сравнивает их с нормами.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63791" y="5868463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 – Блок-схема бизнес-процесса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контроля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остатков</a:t>
            </a:r>
            <a:endParaRPr lang="en-US" sz="16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B2345E-A97A-8B3D-E747-CE42C758C4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7" b="10088"/>
          <a:stretch/>
        </p:blipFill>
        <p:spPr bwMode="auto">
          <a:xfrm>
            <a:off x="3034665" y="2069432"/>
            <a:ext cx="5939790" cy="36233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управленческих отчетов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91883"/>
            <a:ext cx="10789920" cy="8429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выбирает нужный отчет и задает параметры формирования: период, клиента, мастера или вид услуги. Система получает данные из регистров и документов, выполняет обработку и формирует отчет.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80360" y="6104583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3 – Блок-схема формирования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управленческих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отчетов</a:t>
            </a:r>
            <a:endParaRPr lang="en-US" sz="16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F6EBF8-E2F6-026D-4970-52795F6713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" b="2494"/>
          <a:stretch/>
        </p:blipFill>
        <p:spPr bwMode="auto">
          <a:xfrm>
            <a:off x="4039151" y="1791266"/>
            <a:ext cx="3900337" cy="41980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объектов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1C: Предприятие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94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объектов конфигурации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97556" y="1325880"/>
            <a:ext cx="4912494" cy="2508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1. Справочники и их реквизиты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;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2. Табличные части справочников;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3. </a:t>
            </a:r>
            <a:r>
              <a:rPr lang="ru-RU" sz="1600" dirty="0">
                <a:ea typeface="Times New Roman" panose="02020603050405020304" pitchFamily="18" charset="0"/>
              </a:rPr>
              <a:t>Д</a:t>
            </a:r>
            <a:r>
              <a:rPr lang="ru-RU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окумен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ты и их реквизиты;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4. </a:t>
            </a:r>
            <a:r>
              <a:rPr lang="ru-RU" sz="1600" dirty="0">
                <a:ea typeface="Times New Roman" panose="02020603050405020304" pitchFamily="18" charset="0"/>
              </a:rPr>
              <a:t>Т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абличные части документов;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5. </a:t>
            </a:r>
            <a:r>
              <a:rPr lang="ru-RU" sz="1600" dirty="0">
                <a:solidFill>
                  <a:srgbClr val="000000"/>
                </a:solidFill>
                <a:ea typeface="Times New Roman" panose="02020603050405020304" pitchFamily="18" charset="0"/>
              </a:rPr>
              <a:t>Р</a:t>
            </a:r>
            <a:r>
              <a:rPr lang="ru-RU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егистры сведений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 и накопления;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6. </a:t>
            </a:r>
            <a:r>
              <a:rPr lang="ru-RU" sz="1600" dirty="0">
                <a:ea typeface="Times New Roman" panose="02020603050405020304" pitchFamily="18" charset="0"/>
              </a:rPr>
              <a:t>П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еречисления;</a:t>
            </a:r>
          </a:p>
          <a:p>
            <a:pPr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7. </a:t>
            </a:r>
            <a:r>
              <a:rPr lang="ru-RU" sz="1600" dirty="0">
                <a:ea typeface="Times New Roman" panose="02020603050405020304" pitchFamily="18" charset="0"/>
              </a:rPr>
              <a:t>О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тчёты, обработки и роли пользователей.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структура конфигурации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1042416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раздела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337912"/>
            <a:ext cx="10698480" cy="20128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Система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предназначена для хранения нормативно-справочной информации, оформления поступления материалов на склад, регистрации оказанных услуг, формирования движений по регистрам и получения аналитических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отчётов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. </a:t>
            </a: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С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правочники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хранят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постоянные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данные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;</a:t>
            </a:r>
            <a:r>
              <a:rPr lang="ru-RU" sz="1600" dirty="0"/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документы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отражают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операции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;</a:t>
            </a:r>
            <a:r>
              <a:rPr lang="ru-RU" sz="1600" dirty="0"/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регистры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накапливают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и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хранят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движения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;</a:t>
            </a:r>
            <a:r>
              <a:rPr lang="ru-RU" sz="1600" dirty="0"/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отчеты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позволяют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анализировать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деятельность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автосервиса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;</a:t>
            </a:r>
            <a:r>
              <a:rPr lang="ru-RU" sz="1600" dirty="0"/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обработки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и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роли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организуют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работу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пользователей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Справочники и их реквизиты: часть 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8197" y="1050536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1 – Справочники и их реквизиты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815D58F5-EBFF-839D-CE39-8A102DB5A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67568"/>
              </p:ext>
            </p:extLst>
          </p:nvPr>
        </p:nvGraphicFramePr>
        <p:xfrm>
          <a:off x="594359" y="1396984"/>
          <a:ext cx="10789921" cy="4410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9554">
                  <a:extLst>
                    <a:ext uri="{9D8B030D-6E8A-4147-A177-3AD203B41FA5}">
                      <a16:colId xmlns:a16="http://schemas.microsoft.com/office/drawing/2014/main" val="2096527827"/>
                    </a:ext>
                  </a:extLst>
                </a:gridCol>
                <a:gridCol w="3788894">
                  <a:extLst>
                    <a:ext uri="{9D8B030D-6E8A-4147-A177-3AD203B41FA5}">
                      <a16:colId xmlns:a16="http://schemas.microsoft.com/office/drawing/2014/main" val="3030838859"/>
                    </a:ext>
                  </a:extLst>
                </a:gridCol>
                <a:gridCol w="5271473">
                  <a:extLst>
                    <a:ext uri="{9D8B030D-6E8A-4147-A177-3AD203B41FA5}">
                      <a16:colId xmlns:a16="http://schemas.microsoft.com/office/drawing/2014/main" val="2126256281"/>
                    </a:ext>
                  </a:extLst>
                </a:gridCol>
              </a:tblGrid>
              <a:tr h="315946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Справочник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Назначение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Реквизиты / хранимые данные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8124513"/>
                  </a:ext>
                </a:extLst>
              </a:tr>
              <a:tr h="103446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Хранение перечня услуг автосервиса и материалов, используемых при выполнении работ.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Код, Наименование, ВидНоменклатуры, ЦенаЗакупки.</a:t>
                      </a:r>
                      <a:br>
                        <a:rPr lang="ru-RU" sz="1000">
                          <a:effectLst/>
                        </a:rPr>
                      </a:br>
                      <a:r>
                        <a:rPr lang="ru-RU" sz="1000">
                          <a:effectLst/>
                        </a:rPr>
                        <a:t>ВидНоменклатуры связывается с перечислением «ВидыНоменклатуры»: Материал или Услуга.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2602972"/>
                  </a:ext>
                </a:extLst>
              </a:tr>
              <a:tr h="103446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Склады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Хранение списка складов, с которых списываются материалы и на которые оформляется поступление.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Код, Наименование.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7870988"/>
                  </a:ext>
                </a:extLst>
              </a:tr>
              <a:tr h="67520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Клиенты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Хранение данных о клиентах автосервиса, которым оказываются услуги.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Код, Наименование.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0292232"/>
                  </a:ext>
                </a:extLst>
              </a:tr>
              <a:tr h="67520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Договоры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Хранение договоров, по которым выполняются работы и услуги для клиентов.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Код, Наименование, ДатаЗаключения.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3178291"/>
                  </a:ext>
                </a:extLst>
              </a:tr>
              <a:tr h="67520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Сотрудники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Хранение списка сотрудников автосервиса, в том числе мастеров, выполняющих услуги.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Код, Наименование.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673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их реквизиты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088136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2 – Документы и их реквизиты</a:t>
            </a:r>
            <a:endParaRPr lang="en-US" sz="1600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C9A17E7A-CD5E-E5F4-E409-4C319113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63781"/>
              </p:ext>
            </p:extLst>
          </p:nvPr>
        </p:nvGraphicFramePr>
        <p:xfrm>
          <a:off x="594360" y="1478200"/>
          <a:ext cx="10789920" cy="2211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9339">
                  <a:extLst>
                    <a:ext uri="{9D8B030D-6E8A-4147-A177-3AD203B41FA5}">
                      <a16:colId xmlns:a16="http://schemas.microsoft.com/office/drawing/2014/main" val="3483575396"/>
                    </a:ext>
                  </a:extLst>
                </a:gridCol>
                <a:gridCol w="4324249">
                  <a:extLst>
                    <a:ext uri="{9D8B030D-6E8A-4147-A177-3AD203B41FA5}">
                      <a16:colId xmlns:a16="http://schemas.microsoft.com/office/drawing/2014/main" val="4103475147"/>
                    </a:ext>
                  </a:extLst>
                </a:gridCol>
                <a:gridCol w="4406332">
                  <a:extLst>
                    <a:ext uri="{9D8B030D-6E8A-4147-A177-3AD203B41FA5}">
                      <a16:colId xmlns:a16="http://schemas.microsoft.com/office/drawing/2014/main" val="280738065"/>
                    </a:ext>
                  </a:extLst>
                </a:gridCol>
              </a:tblGrid>
              <a:tr h="437256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Документ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Назначение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Реквизиты документа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8583695"/>
                  </a:ext>
                </a:extLst>
              </a:tr>
              <a:tr h="839776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ПриходнаяНакладная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Оформление поступления материалов на склад автосервиса. При проведении увеличивает остатки материалов.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Склад. Также документ имеет стандартные реквизиты: Номер и Дата.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928856"/>
                  </a:ext>
                </a:extLst>
              </a:tr>
              <a:tr h="93445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ОказаниеУслуг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Оформление факта оказания услуги клиенту и списания использованных материалов со склада.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Клиент, Договор, Мастер, Склад, </a:t>
                      </a:r>
                      <a:r>
                        <a:rPr lang="ru-RU" sz="1000" dirty="0" err="1">
                          <a:effectLst/>
                        </a:rPr>
                        <a:t>ИтоговаяСумма</a:t>
                      </a:r>
                      <a:r>
                        <a:rPr lang="ru-RU" sz="1000" dirty="0">
                          <a:effectLst/>
                        </a:rPr>
                        <a:t>.</a:t>
                      </a:r>
                      <a:br>
                        <a:rPr lang="ru-RU" sz="1000" dirty="0">
                          <a:effectLst/>
                        </a:rPr>
                      </a:br>
                      <a:r>
                        <a:rPr lang="ru-RU" sz="1000" dirty="0">
                          <a:effectLst/>
                        </a:rPr>
                        <a:t>Также документ имеет стандартные реквизиты: Номер и Дата.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58357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Табличные части документов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010412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3 – Табличные части документов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C4A75AF3-B42F-BB65-95C7-6446E7645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22373"/>
              </p:ext>
            </p:extLst>
          </p:nvPr>
        </p:nvGraphicFramePr>
        <p:xfrm>
          <a:off x="594360" y="1354444"/>
          <a:ext cx="10789920" cy="27242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8761">
                  <a:extLst>
                    <a:ext uri="{9D8B030D-6E8A-4147-A177-3AD203B41FA5}">
                      <a16:colId xmlns:a16="http://schemas.microsoft.com/office/drawing/2014/main" val="1453290074"/>
                    </a:ext>
                  </a:extLst>
                </a:gridCol>
                <a:gridCol w="1937084">
                  <a:extLst>
                    <a:ext uri="{9D8B030D-6E8A-4147-A177-3AD203B41FA5}">
                      <a16:colId xmlns:a16="http://schemas.microsoft.com/office/drawing/2014/main" val="3271723892"/>
                    </a:ext>
                  </a:extLst>
                </a:gridCol>
                <a:gridCol w="2574718">
                  <a:extLst>
                    <a:ext uri="{9D8B030D-6E8A-4147-A177-3AD203B41FA5}">
                      <a16:colId xmlns:a16="http://schemas.microsoft.com/office/drawing/2014/main" val="2466869546"/>
                    </a:ext>
                  </a:extLst>
                </a:gridCol>
                <a:gridCol w="4159357">
                  <a:extLst>
                    <a:ext uri="{9D8B030D-6E8A-4147-A177-3AD203B41FA5}">
                      <a16:colId xmlns:a16="http://schemas.microsoft.com/office/drawing/2014/main" val="342145942"/>
                    </a:ext>
                  </a:extLst>
                </a:gridCol>
              </a:tblGrid>
              <a:tr h="313659"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Документ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Табличная часть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Реквизиты табличной части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7738101"/>
                  </a:ext>
                </a:extLst>
              </a:tr>
              <a:tr h="102697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effectLst/>
                        </a:rPr>
                        <a:t>ПриходнаяНакладная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СписокМатериалов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Номенклатура, Количество, Цена, Сумма.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Содержит перечень материалов, поступающих на выбранный склад. По данным табличной части формируются движения прихода по регистру остатков.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2162830"/>
                  </a:ext>
                </a:extLst>
              </a:tr>
              <a:tr h="1383629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effectLst/>
                        </a:rPr>
                        <a:t>ОказаниеУслуг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СписокНоменклатуры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Номенклатура, Количество, Цена, Сумма.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Содержит услуги и материалы, включённые в заказ клиента. По данным табличной части рассчитывается итоговая сумма, формируются продажи и списание материалов.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270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Регистры сведений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6958" y="1024699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4 – Регистры сведений</a:t>
            </a:r>
            <a:endParaRPr lang="en-US" sz="1600" dirty="0"/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9902E47D-288E-0FF3-5CFC-3F4C909AA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84067"/>
              </p:ext>
            </p:extLst>
          </p:nvPr>
        </p:nvGraphicFramePr>
        <p:xfrm>
          <a:off x="594360" y="1376393"/>
          <a:ext cx="10789921" cy="23473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3655">
                  <a:extLst>
                    <a:ext uri="{9D8B030D-6E8A-4147-A177-3AD203B41FA5}">
                      <a16:colId xmlns:a16="http://schemas.microsoft.com/office/drawing/2014/main" val="439259135"/>
                    </a:ext>
                  </a:extLst>
                </a:gridCol>
                <a:gridCol w="2059478">
                  <a:extLst>
                    <a:ext uri="{9D8B030D-6E8A-4147-A177-3AD203B41FA5}">
                      <a16:colId xmlns:a16="http://schemas.microsoft.com/office/drawing/2014/main" val="1548898182"/>
                    </a:ext>
                  </a:extLst>
                </a:gridCol>
                <a:gridCol w="2676958">
                  <a:extLst>
                    <a:ext uri="{9D8B030D-6E8A-4147-A177-3AD203B41FA5}">
                      <a16:colId xmlns:a16="http://schemas.microsoft.com/office/drawing/2014/main" val="629678702"/>
                    </a:ext>
                  </a:extLst>
                </a:gridCol>
                <a:gridCol w="3829830">
                  <a:extLst>
                    <a:ext uri="{9D8B030D-6E8A-4147-A177-3AD203B41FA5}">
                      <a16:colId xmlns:a16="http://schemas.microsoft.com/office/drawing/2014/main" val="4087168783"/>
                    </a:ext>
                  </a:extLst>
                </a:gridCol>
              </a:tblGrid>
              <a:tr h="274601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сведений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Измерения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Ресурсы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3065244"/>
                  </a:ext>
                </a:extLst>
              </a:tr>
              <a:tr h="58684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ЦеныНоменклатуры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Цена.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Хранение действующих цен по номенклатуре для подстановки в документы и формирования прайс-листа.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3864852"/>
                  </a:ext>
                </a:extLst>
              </a:tr>
              <a:tr h="58684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НормыЗапасаТоваров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Норма.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Хранение минимальных норм запаса материалов, необходимых для контроля складских остатков.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8559235"/>
                  </a:ext>
                </a:extLst>
              </a:tr>
              <a:tr h="89909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ЖурналПроверкиЗапасов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Проверка, Номенклатура.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Остаток, Норма, Недостача, Сообщение.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Фиксация результатов проверки запасов, выявление недостатка материалов и формирование сообщений для пользователя.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7180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Регистры накопления и перечисления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1001148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5 –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Регистры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накопления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перечисления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D745FF37-D716-9DA1-DE22-05B3677C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13953"/>
              </p:ext>
            </p:extLst>
          </p:nvPr>
        </p:nvGraphicFramePr>
        <p:xfrm>
          <a:off x="571500" y="1347272"/>
          <a:ext cx="10812780" cy="2274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6104">
                  <a:extLst>
                    <a:ext uri="{9D8B030D-6E8A-4147-A177-3AD203B41FA5}">
                      <a16:colId xmlns:a16="http://schemas.microsoft.com/office/drawing/2014/main" val="2181679856"/>
                    </a:ext>
                  </a:extLst>
                </a:gridCol>
                <a:gridCol w="3053902">
                  <a:extLst>
                    <a:ext uri="{9D8B030D-6E8A-4147-A177-3AD203B41FA5}">
                      <a16:colId xmlns:a16="http://schemas.microsoft.com/office/drawing/2014/main" val="2976609197"/>
                    </a:ext>
                  </a:extLst>
                </a:gridCol>
                <a:gridCol w="1857093">
                  <a:extLst>
                    <a:ext uri="{9D8B030D-6E8A-4147-A177-3AD203B41FA5}">
                      <a16:colId xmlns:a16="http://schemas.microsoft.com/office/drawing/2014/main" val="1618891988"/>
                    </a:ext>
                  </a:extLst>
                </a:gridCol>
                <a:gridCol w="3755681">
                  <a:extLst>
                    <a:ext uri="{9D8B030D-6E8A-4147-A177-3AD203B41FA5}">
                      <a16:colId xmlns:a16="http://schemas.microsoft.com/office/drawing/2014/main" val="4157032770"/>
                    </a:ext>
                  </a:extLst>
                </a:gridCol>
              </a:tblGrid>
              <a:tr h="30129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накопления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Измерения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Ресурсы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7848828"/>
                  </a:ext>
                </a:extLst>
              </a:tr>
              <a:tr h="98647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ОстаткиМатериалов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Склад, Материал.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Количество.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Хранение количества материалов на складах. Заполняется при проведении приходной накладной и изменяется при оказании услуг.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7387612"/>
                  </a:ext>
                </a:extLst>
              </a:tr>
              <a:tr h="98647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Продажи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Номенклатура, Клиент, Договор, Мастер.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Количество, Сумма.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Накопление данных об оказанных услугах и продажах для последующего анализа по клиентам, мастерам и номенклатуре.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6867736"/>
                  </a:ext>
                </a:extLst>
              </a:tr>
            </a:tbl>
          </a:graphicData>
        </a:graphic>
      </p:graphicFrame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83C1B54A-CBA9-6E17-309C-DDC09A8C2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876247"/>
              </p:ext>
            </p:extLst>
          </p:nvPr>
        </p:nvGraphicFramePr>
        <p:xfrm>
          <a:off x="571500" y="3621506"/>
          <a:ext cx="10789921" cy="1451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5605">
                  <a:extLst>
                    <a:ext uri="{9D8B030D-6E8A-4147-A177-3AD203B41FA5}">
                      <a16:colId xmlns:a16="http://schemas.microsoft.com/office/drawing/2014/main" val="3212378291"/>
                    </a:ext>
                  </a:extLst>
                </a:gridCol>
                <a:gridCol w="3068053">
                  <a:extLst>
                    <a:ext uri="{9D8B030D-6E8A-4147-A177-3AD203B41FA5}">
                      <a16:colId xmlns:a16="http://schemas.microsoft.com/office/drawing/2014/main" val="2676071216"/>
                    </a:ext>
                  </a:extLst>
                </a:gridCol>
                <a:gridCol w="5586263">
                  <a:extLst>
                    <a:ext uri="{9D8B030D-6E8A-4147-A177-3AD203B41FA5}">
                      <a16:colId xmlns:a16="http://schemas.microsoft.com/office/drawing/2014/main" val="2476698504"/>
                    </a:ext>
                  </a:extLst>
                </a:gridCol>
              </a:tblGrid>
              <a:tr h="46276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Перечисление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Значения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Назначение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9613826"/>
                  </a:ext>
                </a:extLst>
              </a:tr>
              <a:tr h="98896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ВидыНоменклатуры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Услуга; Материал.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Используется в справочнике «Номенклатура» для разделения позиций на услуги автосервиса и складские материалы.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33191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Табличные части справочников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007344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Табличные части справочников</a:t>
            </a:r>
            <a:endParaRPr lang="en-US" sz="1600" dirty="0"/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3CEF83C9-5AFD-F054-B169-C07A003D3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079196"/>
              </p:ext>
            </p:extLst>
          </p:nvPr>
        </p:nvGraphicFramePr>
        <p:xfrm>
          <a:off x="594360" y="1353745"/>
          <a:ext cx="10789920" cy="24321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9554">
                  <a:extLst>
                    <a:ext uri="{9D8B030D-6E8A-4147-A177-3AD203B41FA5}">
                      <a16:colId xmlns:a16="http://schemas.microsoft.com/office/drawing/2014/main" val="2508861437"/>
                    </a:ext>
                  </a:extLst>
                </a:gridCol>
                <a:gridCol w="2059339">
                  <a:extLst>
                    <a:ext uri="{9D8B030D-6E8A-4147-A177-3AD203B41FA5}">
                      <a16:colId xmlns:a16="http://schemas.microsoft.com/office/drawing/2014/main" val="1313635170"/>
                    </a:ext>
                  </a:extLst>
                </a:gridCol>
                <a:gridCol w="7001027">
                  <a:extLst>
                    <a:ext uri="{9D8B030D-6E8A-4147-A177-3AD203B41FA5}">
                      <a16:colId xmlns:a16="http://schemas.microsoft.com/office/drawing/2014/main" val="2982360332"/>
                    </a:ext>
                  </a:extLst>
                </a:gridCol>
              </a:tblGrid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Справочник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Табличные части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Описание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9943419"/>
                  </a:ext>
                </a:extLst>
              </a:tr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Не используются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 структуре конфигурации табличные части для справочника не заданы.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5433799"/>
                  </a:ext>
                </a:extLst>
              </a:tr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Склады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Не используются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Данные склада хранятся в реквизитах справочника и в регистрах накопления.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5290967"/>
                  </a:ext>
                </a:extLst>
              </a:tr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Клиенты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Не используются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Основные данные клиента хранятся в реквизитах справочника.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8815552"/>
                  </a:ext>
                </a:extLst>
              </a:tr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Договоры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Не используются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Информация о договоре хранится в реквизитах справочника.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324482"/>
                  </a:ext>
                </a:extLst>
              </a:tr>
              <a:tr h="40535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Сотрудники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Не используются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Список сотрудников хранится как простой справочник без табличных частей.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962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Отчеты: склад и цены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013300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Отчеты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BFFA3218-6E1A-6656-B526-23C530853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93217"/>
              </p:ext>
            </p:extLst>
          </p:nvPr>
        </p:nvGraphicFramePr>
        <p:xfrm>
          <a:off x="594360" y="1336038"/>
          <a:ext cx="10789920" cy="36269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9339">
                  <a:extLst>
                    <a:ext uri="{9D8B030D-6E8A-4147-A177-3AD203B41FA5}">
                      <a16:colId xmlns:a16="http://schemas.microsoft.com/office/drawing/2014/main" val="1059249571"/>
                    </a:ext>
                  </a:extLst>
                </a:gridCol>
                <a:gridCol w="4324249">
                  <a:extLst>
                    <a:ext uri="{9D8B030D-6E8A-4147-A177-3AD203B41FA5}">
                      <a16:colId xmlns:a16="http://schemas.microsoft.com/office/drawing/2014/main" val="3721101697"/>
                    </a:ext>
                  </a:extLst>
                </a:gridCol>
                <a:gridCol w="4406332">
                  <a:extLst>
                    <a:ext uri="{9D8B030D-6E8A-4147-A177-3AD203B41FA5}">
                      <a16:colId xmlns:a16="http://schemas.microsoft.com/office/drawing/2014/main" val="459103593"/>
                    </a:ext>
                  </a:extLst>
                </a:gridCol>
              </a:tblGrid>
              <a:tr h="31407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Отчёт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Используемые данные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3556241"/>
                  </a:ext>
                </a:extLst>
              </a:tr>
              <a:tr h="31407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МатериалыНаСкладах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накопления «ОстаткиМатериалов».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Показывает остатки материалов по складам.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9655955"/>
                  </a:ext>
                </a:extLst>
              </a:tr>
              <a:tr h="67119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ЦеныЗакупки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Справочник «Номенклатура», регистр сведений «ЦеныНоменклатуры».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Позволяет просматривать закупочные цены и анализировать стоимость материалов.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6983440"/>
                  </a:ext>
                </a:extLst>
              </a:tr>
              <a:tr h="67119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ПрайсЛист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сведений «ЦеныНоменклатуры», справочник «Номенклатура».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Формирует перечень услуг и материалов с актуальными ценами.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2992648"/>
                  </a:ext>
                </a:extLst>
              </a:tr>
              <a:tr h="31407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ПродажиПоКлиентам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накопления «Продажи».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Показывает суммы и количество продаж по клиентам.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3966087"/>
                  </a:ext>
                </a:extLst>
              </a:tr>
              <a:tr h="67119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ПродажиПоМастерам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накопления «Продажи».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Позволяет анализировать работу мастеров и объём оказанных ими услуг.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7424116"/>
                  </a:ext>
                </a:extLst>
              </a:tr>
              <a:tr h="67119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РейтингУслуг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Регистр накопления «Продажи», справочник «Номенклатура».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Формирует рейтинг наиболее востребованных услуг автосервиса.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95370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Обработки, модули и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регламентные</a:t>
            </a: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996696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Обработки, общие модули и регламентные задания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3AE3FC3B-8E72-6ABE-1CC4-82016C804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49307"/>
              </p:ext>
            </p:extLst>
          </p:nvPr>
        </p:nvGraphicFramePr>
        <p:xfrm>
          <a:off x="594360" y="1331214"/>
          <a:ext cx="10789920" cy="34633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8308">
                  <a:extLst>
                    <a:ext uri="{9D8B030D-6E8A-4147-A177-3AD203B41FA5}">
                      <a16:colId xmlns:a16="http://schemas.microsoft.com/office/drawing/2014/main" val="3924802324"/>
                    </a:ext>
                  </a:extLst>
                </a:gridCol>
                <a:gridCol w="2105527">
                  <a:extLst>
                    <a:ext uri="{9D8B030D-6E8A-4147-A177-3AD203B41FA5}">
                      <a16:colId xmlns:a16="http://schemas.microsoft.com/office/drawing/2014/main" val="2684546044"/>
                    </a:ext>
                  </a:extLst>
                </a:gridCol>
                <a:gridCol w="5976085">
                  <a:extLst>
                    <a:ext uri="{9D8B030D-6E8A-4147-A177-3AD203B41FA5}">
                      <a16:colId xmlns:a16="http://schemas.microsoft.com/office/drawing/2014/main" val="1195985101"/>
                    </a:ext>
                  </a:extLst>
                </a:gridCol>
              </a:tblGrid>
              <a:tr h="41857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Объект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Тип объекта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8370053"/>
                  </a:ext>
                </a:extLst>
              </a:tr>
              <a:tr h="89453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ПроверкаЗапасов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Обработка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Запускает контроль складских остатков и сравнивает фактическое количество материалов с установленными нормами запаса.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2241354"/>
                  </a:ext>
                </a:extLst>
              </a:tr>
              <a:tr h="89453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ПроверкаЗапасовКаждые5Минут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endParaRPr lang="ru-RU" sz="1000" dirty="0">
                        <a:effectLst/>
                      </a:endParaRPr>
                    </a:p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Регламентное задание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Периодически выполняет проверку запасов каждые 5 минут и фиксирует результаты в журнале проверки.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200149"/>
                  </a:ext>
                </a:extLst>
              </a:tr>
              <a:tr h="41857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РасчетКлиент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Общий модуль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Содержит клиентские процедуры и функции, связанные с расчётами и работой форм.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953009"/>
                  </a:ext>
                </a:extLst>
              </a:tr>
              <a:tr h="41857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РасчетСервер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Общий модуль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Содержит серверную логику расчётов, используемую документами и формами.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8555548"/>
                  </a:ext>
                </a:extLst>
              </a:tr>
              <a:tr h="41857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ПроверкаЗапасовСервер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Общий модуль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Содержит серверную логику проверки запасов и формирования результатов контроля.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254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пользователей и доступные разделы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969264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Роли пользователей и доступные разделы</a:t>
            </a:r>
            <a:endParaRPr lang="en-US" sz="16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43BD350A-78B2-E768-17E5-F95332D75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648057"/>
              </p:ext>
            </p:extLst>
          </p:nvPr>
        </p:nvGraphicFramePr>
        <p:xfrm>
          <a:off x="594360" y="1330877"/>
          <a:ext cx="10789920" cy="31689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5525">
                  <a:extLst>
                    <a:ext uri="{9D8B030D-6E8A-4147-A177-3AD203B41FA5}">
                      <a16:colId xmlns:a16="http://schemas.microsoft.com/office/drawing/2014/main" val="1026820666"/>
                    </a:ext>
                  </a:extLst>
                </a:gridCol>
                <a:gridCol w="4522866">
                  <a:extLst>
                    <a:ext uri="{9D8B030D-6E8A-4147-A177-3AD203B41FA5}">
                      <a16:colId xmlns:a16="http://schemas.microsoft.com/office/drawing/2014/main" val="186080993"/>
                    </a:ext>
                  </a:extLst>
                </a:gridCol>
                <a:gridCol w="3311529">
                  <a:extLst>
                    <a:ext uri="{9D8B030D-6E8A-4147-A177-3AD203B41FA5}">
                      <a16:colId xmlns:a16="http://schemas.microsoft.com/office/drawing/2014/main" val="2144710019"/>
                    </a:ext>
                  </a:extLst>
                </a:gridCol>
              </a:tblGrid>
              <a:tr h="42758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Роль / пользователь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Разделы и действия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 прав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2454508"/>
                  </a:ext>
                </a:extLst>
              </a:tr>
              <a:tr h="91378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ПолныеПрава/Администратор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Администрирование, документы, справочники, регистры, отчёты, сервисные операции.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Полный доступ к настройке и ведению конфигурации.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4527640"/>
                  </a:ext>
                </a:extLst>
              </a:tr>
              <a:tr h="91378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УчетМатериалов / Кладовщик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Раздел «Учет материалов»: приходные накладные, номенклатура, склады, отчёты по остаткам и ценам закупки.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Ведение поступления материалов, контроль складов и остатков.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095722"/>
                  </a:ext>
                </a:extLst>
              </a:tr>
              <a:tr h="91378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ОказаниеУслуг / Мастер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Раздел «Оказание услуг»: документы оказания услуг, клиенты, договоры, склады, сотрудники, цены, нормы запасов, проверка запасов.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Оформление оказанных услуг, подбор материалов, проверка доступности материалов.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121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Разделы пользовательского интерфейса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r>
              <a:rPr lang="ru-RU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Разделы пользовательского интерфейса</a:t>
            </a:r>
            <a:endParaRPr lang="en-US" sz="1600" dirty="0"/>
          </a:p>
        </p:txBody>
      </p: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4EECE338-F43C-D5B2-06F6-B5448F0D5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0372"/>
              </p:ext>
            </p:extLst>
          </p:nvPr>
        </p:nvGraphicFramePr>
        <p:xfrm>
          <a:off x="594360" y="1335658"/>
          <a:ext cx="10789919" cy="3699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5062">
                  <a:extLst>
                    <a:ext uri="{9D8B030D-6E8A-4147-A177-3AD203B41FA5}">
                      <a16:colId xmlns:a16="http://schemas.microsoft.com/office/drawing/2014/main" val="3167422062"/>
                    </a:ext>
                  </a:extLst>
                </a:gridCol>
                <a:gridCol w="5765811">
                  <a:extLst>
                    <a:ext uri="{9D8B030D-6E8A-4147-A177-3AD203B41FA5}">
                      <a16:colId xmlns:a16="http://schemas.microsoft.com/office/drawing/2014/main" val="164361608"/>
                    </a:ext>
                  </a:extLst>
                </a:gridCol>
                <a:gridCol w="2759046">
                  <a:extLst>
                    <a:ext uri="{9D8B030D-6E8A-4147-A177-3AD203B41FA5}">
                      <a16:colId xmlns:a16="http://schemas.microsoft.com/office/drawing/2014/main" val="2837246354"/>
                    </a:ext>
                  </a:extLst>
                </a:gridCol>
              </a:tblGrid>
              <a:tr h="34622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Раздел интерфейса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Команды / объекты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Назначение раздела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8363824"/>
                  </a:ext>
                </a:extLst>
              </a:tr>
              <a:tr h="73991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Главное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Приходная накладная, Оказание услуг, Номенклатура, Клиенты, Договоры, Сотрудники, Склады.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Быстрый доступ к основным объектам конфигурации.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1293286"/>
                  </a:ext>
                </a:extLst>
              </a:tr>
              <a:tr h="73991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Учет материалов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Приходная накладная, Номенклатура, Склады, отчёты «Материалы на складах» и «Цены закупки».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Работа кладовщика с поступлением материалов и складскими остатками.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876301"/>
                  </a:ext>
                </a:extLst>
              </a:tr>
              <a:tr h="1133597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Оказание услуг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Номенклатура, Клиенты, Цены номенклатуры, Журнал проверки запасов, Нормы запаса товаров, Договоры, Склады, Сотрудники, Приходная накладная, отчёты и сервис «Проверка запасов».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Основной рабочий раздел мастера и пользователя, оформляющего услуги.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2125747"/>
                  </a:ext>
                </a:extLst>
              </a:tr>
              <a:tr h="73991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Администрирование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Документы, НСИ, регистры, сервис «Организация».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Настройка и обслуживание данных конфигурации.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5371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конфигурации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структура конфигурации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88136"/>
            <a:ext cx="10698480" cy="20128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	</a:t>
            </a:r>
            <a:r>
              <a:rPr lang="ru-RU" sz="1600" dirty="0">
                <a:effectLst/>
                <a:ea typeface="Times New Roman" panose="02020603050405020304" pitchFamily="18" charset="0"/>
              </a:rPr>
              <a:t>Таким образом, конфигурация содержит справочники для хранения постоянных данных, документы для отражения операций, регистры для накопления и хранения движений, отчёты для анализа деятельности автосервиса, а также обработки и роли для организации работы пользователей. Такая структура позволяет вести учёт материалов, фиксировать оказанные услуги, контролировать остатки на складах и получать управленческую аналитику.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76004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0907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1C: Предприятие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666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00237" y="1040732"/>
            <a:ext cx="10684043" cy="34831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Разработанная конфигурация 1С предназначена для автоматизации работы автосервиса: учета клиентов, договоров, сотрудников, складских материалов, поступления материалов, оформления оказанных услуг, контроля остатков и формирования управленческих отчетов. В конфигурации используются справочники, документы, регистры сведений и накопления, отчеты, обработка проверки запасов, общие модули и роли пользователей.</a:t>
            </a:r>
          </a:p>
          <a:p>
            <a:pPr indent="457200"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Основная логика системы построена вокруг двух документов: «Приходная накладная» и «Оказание услуг». Первый документ увеличивает остатки материалов на складе, второй фиксирует факт оказания услуги клиенту, списывает использованные материалы и записывает данные о продаже услуги или материала в регистры.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пользователя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3650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1C: Предприятие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96526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пользователя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07720" y="938343"/>
            <a:ext cx="98755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1.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Вход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в 1С: Предприятие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2.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Главный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раздел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3.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учета материалов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4.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оказания услуг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ru-RU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5. </a:t>
            </a:r>
            <a:r>
              <a:rPr lang="en-US" sz="1600" dirty="0" err="1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ea typeface="Arial" pitchFamily="34" charset="-122"/>
                <a:cs typeface="Arial" pitchFamily="34" charset="-120"/>
              </a:rPr>
              <a:t> администрирования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пользователя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в 1С: Предприятие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24840" y="945923"/>
            <a:ext cx="10759440" cy="12029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запускает приложение 1С:Предприятие и выбирает информационную базу «Автосервис». После открытия окна входа необходимо выбрать пользователя из списка. В системе предусмотрены роли: Администратор, Мастер и Менеджер по закупкам.</a:t>
            </a:r>
            <a:endParaRPr lang="en-US" sz="1600" dirty="0"/>
          </a:p>
        </p:txBody>
      </p:sp>
      <p:pic>
        <p:nvPicPr>
          <p:cNvPr id="9" name="Image 0" descr="/mnt/data/docx_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75167"/>
            <a:ext cx="3977504" cy="37242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70597" y="5888736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4 – Выбор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роли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пользователя</a:t>
            </a:r>
            <a:endParaRPr lang="en-US" sz="16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52763"/>
            <a:ext cx="1065276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раздел является начальной страницей конфигурации. Пользователь видит основные разделы: «Главное», «Учет материалов», «Оказание услуг» и «Администрирование». В центральной части расположены основные команды для быстрого доступа.</a:t>
            </a:r>
            <a:endParaRPr lang="en-US" sz="1600" dirty="0"/>
          </a:p>
        </p:txBody>
      </p:sp>
      <p:pic>
        <p:nvPicPr>
          <p:cNvPr id="9" name="Image 0" descr="/mnt/data/docx_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43" y="2293941"/>
            <a:ext cx="5022793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379" y="529221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5 –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Главный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раздел</a:t>
            </a:r>
            <a:endParaRPr lang="en-US" sz="16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Приходная накладная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1500" y="1033272"/>
            <a:ext cx="106756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Приходная накладная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оформления поступления материалов на склад автосервиса. В списке отображаются ранее созданные документы с датой и номером. Для нового поступления пользователь нажимает «Создать», заполняет дату, склад и табличную часть.</a:t>
            </a:r>
            <a:endParaRPr lang="en-US" sz="1600" dirty="0"/>
          </a:p>
        </p:txBody>
      </p:sp>
      <p:pic>
        <p:nvPicPr>
          <p:cNvPr id="9" name="Image 0" descr="/mnt/data/docx_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28" y="2234505"/>
            <a:ext cx="5864763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2949" y="5207989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6 – Раздел «Приходная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накладная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64692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учета выполненных работ. В списке документов отображаются дата, номер, клиент, мастер и итоговая сумма. В новом документе выбираются клиент, договор, мастер, склад, затем заполняется табличная часть.</a:t>
            </a:r>
            <a:endParaRPr lang="en-US" sz="1600" dirty="0"/>
          </a:p>
        </p:txBody>
      </p:sp>
      <p:pic>
        <p:nvPicPr>
          <p:cNvPr id="9" name="Image 0" descr="/mnt/data/docx_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283" y="2126220"/>
            <a:ext cx="8474953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09778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7 – Раздел «Оказание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услуг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Номенклатура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82980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хранит перечень услуг и материалов автосервиса. В форме отображается структура групп и элементы справочника с кодом, наименованием и видом номенклатуры. При создании позиции пользователь выбирает вид: услуга или материал.</a:t>
            </a:r>
            <a:endParaRPr lang="en-US" sz="1600" dirty="0"/>
          </a:p>
        </p:txBody>
      </p:sp>
      <p:pic>
        <p:nvPicPr>
          <p:cNvPr id="9" name="Image 0" descr="/mnt/data/docx_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4852"/>
            <a:ext cx="10332720" cy="24261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79290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8 – Справочник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Номенклатура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28116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предназначен для хранения информации о клиентах автосервиса. Данные используются при оформлении документа «Оказание услуг», где пользователь выбирает клиента, которому была оказана услуга.</a:t>
            </a:r>
            <a:endParaRPr lang="en-US" sz="1600" dirty="0"/>
          </a:p>
        </p:txBody>
      </p:sp>
      <p:pic>
        <p:nvPicPr>
          <p:cNvPr id="9" name="Image 0" descr="/mnt/data/docx_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3920"/>
            <a:ext cx="10332720" cy="24478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668013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9 – Справочник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Клиенты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1500" y="929560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хранения договоров и оснований, по которым автосервис оказывает услуги клиентам. Договор выбирается в документе «Оказание услуг», чтобы связать выполненную работу с конкретным клиентом и основанием оказания услуги.</a:t>
            </a:r>
            <a:endParaRPr lang="en-US" sz="1600" dirty="0"/>
          </a:p>
        </p:txBody>
      </p:sp>
      <p:pic>
        <p:nvPicPr>
          <p:cNvPr id="9" name="Image 0" descr="/mnt/data/docx_asset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93857"/>
            <a:ext cx="10332720" cy="25087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" y="4740683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10 – Справочник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Договоры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77548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хранит список работников автосервиса, которые участвуют в выполнении услуг. В документе «Оказание услуг» пользователь выбирает мастера, выполнившего работу. Эти данные используются в отчете «Продажи по мастерам».</a:t>
            </a:r>
            <a:endParaRPr lang="en-US" sz="1600" dirty="0"/>
          </a:p>
        </p:txBody>
      </p:sp>
      <p:pic>
        <p:nvPicPr>
          <p:cNvPr id="9" name="Image 0" descr="/mnt/data/docx_assets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66535"/>
            <a:ext cx="10332720" cy="24635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4006" y="488434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11 – Справочник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Сотрудники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раздел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84424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хранит места учета материалов. Склад указывается в документах «Приходная накладная» и «Оказание услуг»: при поступлении как место оприходования, при оказании услуг как место списания материалов.</a:t>
            </a:r>
            <a:endParaRPr lang="en-US" sz="1600" dirty="0"/>
          </a:p>
        </p:txBody>
      </p:sp>
      <p:pic>
        <p:nvPicPr>
          <p:cNvPr id="9" name="Image 0" descr="/mnt/data/docx_asset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2190884"/>
            <a:ext cx="10332720" cy="24482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762821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12 – Справочник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Склады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материалов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«Учет материалов»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88136"/>
            <a:ext cx="10789920" cy="11978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предназначен для работы с материалами автосервиса и контроля их наличия на складе. Здесь доступны поступление материалов, справочник «Номенклатура», справочник «Склады» и отчеты для анализа складских остатков и стоимости материалов.</a:t>
            </a:r>
            <a:endParaRPr lang="en-US" sz="1600" dirty="0"/>
          </a:p>
        </p:txBody>
      </p:sp>
      <p:pic>
        <p:nvPicPr>
          <p:cNvPr id="9" name="Image 0" descr="/mnt/data/docx_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2205468"/>
            <a:ext cx="6446520" cy="33109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57500" y="5669280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13 – Раздел «Учет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материалов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материалов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«Материалы на складах»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контроля текущих остатков материалов. Пользователь открывает отчет из раздела «Учет материалов» и нажимает «Сформировать». Система получает данные из регистра «Остатки материалов».</a:t>
            </a:r>
            <a:endParaRPr lang="en-US" sz="1600" dirty="0"/>
          </a:p>
        </p:txBody>
      </p:sp>
      <p:pic>
        <p:nvPicPr>
          <p:cNvPr id="9" name="Image 0" descr="/mnt/data/docx_asset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86" y="2174347"/>
            <a:ext cx="7505748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5138928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14 – Отчет «Материалы на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складах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материалов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«Цены закупки»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просмотра и анализа стоимости материалов, поступающих в автосервис. После формирования система выводит данные о закупочных ценах материалов на основании документов поступления и сохраненных сведений.</a:t>
            </a:r>
            <a:endParaRPr lang="en-US" sz="1600" dirty="0"/>
          </a:p>
        </p:txBody>
      </p:sp>
      <p:pic>
        <p:nvPicPr>
          <p:cNvPr id="9" name="Image 0" descr="/mnt/data/docx_asset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06" y="2120205"/>
            <a:ext cx="9910707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129784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15 – Отчет «Цены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закупки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ru-RU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«Оказание услуг»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предназначен для оформления выполненных работ автосервиса и анализа оказанных услуг. Здесь доступны документ «Оказание услуг», справочники, регистры сведений, отчеты и обработка «Проверка запасов».</a:t>
            </a:r>
            <a:endParaRPr lang="en-US" sz="1600" dirty="0"/>
          </a:p>
        </p:txBody>
      </p:sp>
      <p:pic>
        <p:nvPicPr>
          <p:cNvPr id="9" name="Image 0" descr="/mnt/data/docx_asset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22" y="2204426"/>
            <a:ext cx="8564796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9640" y="5143259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16 – Раздел «Оказание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услуг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номенклатуры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15947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хранения цен на услуги и материалы автосервиса. Данные применяются при заполнении документа «Оказание услуг»: система может подставлять актуальную цену выбранной услуги или материала.</a:t>
            </a:r>
            <a:endParaRPr lang="en-US" sz="1600" dirty="0"/>
          </a:p>
        </p:txBody>
      </p:sp>
      <p:pic>
        <p:nvPicPr>
          <p:cNvPr id="9" name="Image 0" descr="/mnt/data/docx_assets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2156299"/>
            <a:ext cx="10149840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147109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17 – Регистр сведений «Цены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номенклатуры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проверки запасов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88136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просмотра результатов контроля остатков материалов. Записи формируются после запуска обработки «Проверка запасов» или регламентного задания. Пользователь видит текущий остаток и установленную норму.</a:t>
            </a:r>
            <a:endParaRPr lang="en-US" sz="1600" dirty="0"/>
          </a:p>
        </p:txBody>
      </p:sp>
      <p:pic>
        <p:nvPicPr>
          <p:cNvPr id="9" name="Image 0" descr="/mnt/data/docx_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87" y="2258568"/>
            <a:ext cx="9874945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214005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18 – Журнал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проверки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запасов</a:t>
            </a:r>
            <a:endParaRPr lang="en-US" sz="16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 запаса товаров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88136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хранит минимальное количество материалов, которое должно оставаться на складе. Система сравнивает фактический остаток материала с установленной нормой и при недостатке фиксирует результат в журнале проверки запасов.</a:t>
            </a:r>
            <a:endParaRPr lang="en-US" sz="1600" dirty="0"/>
          </a:p>
        </p:txBody>
      </p:sp>
      <p:pic>
        <p:nvPicPr>
          <p:cNvPr id="9" name="Image 0" descr="/mnt/data/docx_assets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35" y="2258568"/>
            <a:ext cx="10153450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17791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19 – Регистр сведений «Нормы запаса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товаров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на складах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33272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показывает движение и текущие остатки материалов по складам: склад, материал, начальный остаток, приход, расход и конечный остаток. Данные формируются на основании регистра «Остатки материалов».</a:t>
            </a:r>
            <a:endParaRPr lang="en-US" sz="1600" dirty="0"/>
          </a:p>
        </p:txBody>
      </p:sp>
      <p:pic>
        <p:nvPicPr>
          <p:cNvPr id="9" name="Image 0" descr="/mnt/data/docx_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093" y="2108173"/>
            <a:ext cx="7463333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9640" y="502920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20 – Отчет «Материалы на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складах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Прайс-лист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46747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просмотра действующих цен на услуги автосервиса. В отчете отображаются позиции номенклатуры с видом «Услуга» и установленными ценами, например замена масла, замер компрессии или запись на техническое обслуживание.</a:t>
            </a:r>
            <a:endParaRPr lang="en-US" sz="1600" dirty="0"/>
          </a:p>
        </p:txBody>
      </p:sp>
      <p:pic>
        <p:nvPicPr>
          <p:cNvPr id="9" name="Image 0" descr="/mnt/data/docx_assets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327" y="2144268"/>
            <a:ext cx="8078865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116309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21 – Отчет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Прайс-лист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по клиентам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37603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анализа оказанных услуг в разрезе клиентов. Система получает сведения из документов «Оказание услуг» и регистра «Продажи», группирует данные по клиентам, номенклатуре, мастерам и договорам.</a:t>
            </a:r>
            <a:endParaRPr lang="en-US" sz="1600" dirty="0"/>
          </a:p>
        </p:txBody>
      </p:sp>
      <p:pic>
        <p:nvPicPr>
          <p:cNvPr id="9" name="Image 0" descr="/mnt/data/docx_assets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95" y="2192395"/>
            <a:ext cx="7818529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141816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22 – Отчет «Продажи по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клиентам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по мастерам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33272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анализа работы сотрудников автосервиса и оценки суммы оказанных ими услуг. Информация группируется по мастерам, периодам и клиентам; отображается сумма продаж и процент от общей суммы.</a:t>
            </a:r>
            <a:endParaRPr lang="en-US" sz="1600" dirty="0"/>
          </a:p>
        </p:txBody>
      </p:sp>
      <p:pic>
        <p:nvPicPr>
          <p:cNvPr id="9" name="Image 0" descr="/mnt/data/docx_assets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403" y="2295144"/>
            <a:ext cx="6046713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399" y="5280179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23 – Отчет «Продажи по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мастерам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Рейтинг услуг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46747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анализа популярности и доходности услуг автосервиса. В отчете отображается порядковый номер, наименование услуги, количество выполнений и общая сумма продаж.</a:t>
            </a:r>
            <a:endParaRPr lang="en-US" sz="1600" dirty="0"/>
          </a:p>
        </p:txBody>
      </p:sp>
      <p:pic>
        <p:nvPicPr>
          <p:cNvPr id="9" name="Image 0" descr="/mnt/data/docx_assets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89" y="1867542"/>
            <a:ext cx="9835021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816963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24 – Отчет «Рейтинг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услуг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запасов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34716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контроля минимальных остатков материалов. Пользователь нажимает «Проверить запасы», после чего система сравнивает фактические остатки с нормами и сообщает о нехватке материалов.</a:t>
            </a:r>
            <a:endParaRPr lang="en-US" sz="1600" dirty="0"/>
          </a:p>
        </p:txBody>
      </p:sp>
      <p:pic>
        <p:nvPicPr>
          <p:cNvPr id="9" name="Image 0" descr="/mnt/data/docx_assets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67" y="2162315"/>
            <a:ext cx="9025312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9640" y="5128340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25 – Обработка «Проверка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запасов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«Администрирование»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13540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предназначен для доступа к основным объектам конфигурации и служебным данным системы. Пользователь может открыть документы, справочники, регистры и сервисную информацию об организации.</a:t>
            </a:r>
            <a:endParaRPr lang="en-US" sz="1600" dirty="0"/>
          </a:p>
        </p:txBody>
      </p:sp>
      <p:pic>
        <p:nvPicPr>
          <p:cNvPr id="9" name="Image 0" descr="/mnt/data/docx_assets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004" y="1861526"/>
            <a:ext cx="8070631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4005" y="4816963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26 – Раздел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Администрирование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Остатки материалов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67820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просмотра движений материалов на складе. При проведении «Приходной накладной» записывается приход, при проведении «Оказания услуг» — расход использованных материалов.</a:t>
            </a:r>
            <a:endParaRPr lang="en-US" sz="1600" dirty="0"/>
          </a:p>
        </p:txBody>
      </p:sp>
      <p:pic>
        <p:nvPicPr>
          <p:cNvPr id="9" name="Image 0" descr="/mnt/data/docx_assets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63" y="1811957"/>
            <a:ext cx="8839994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738758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27 – Регистр накопления «Остатки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материалов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материалов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984424"/>
            <a:ext cx="1078992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просмотра данных о выполненных услугах и суммах продаж. Движения формируются при проведении документов «Оказание услуг» и используются в отчетах «Продажи по клиентам», «Продажи по мастерам» и «Рейтинг услуг».</a:t>
            </a:r>
            <a:endParaRPr lang="en-US" sz="1600" dirty="0"/>
          </a:p>
        </p:txBody>
      </p:sp>
      <p:pic>
        <p:nvPicPr>
          <p:cNvPr id="9" name="Image 0" descr="/mnt/data/docx_assets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19739"/>
            <a:ext cx="10332720" cy="21430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410537"/>
            <a:ext cx="10332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28 – Регистр накопления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Продажи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088136"/>
            <a:ext cx="10789920" cy="115575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используется для хранения наименования автосервиса, от имени которого ведется учет в конфигурации. В поле «Организация» указывается название предприятия, например «ООО Авто Хэлп», после чего данные сохраняются.</a:t>
            </a:r>
            <a:endParaRPr lang="en-US" sz="1600" dirty="0"/>
          </a:p>
        </p:txBody>
      </p:sp>
      <p:pic>
        <p:nvPicPr>
          <p:cNvPr id="9" name="Image 0" descr="/mnt/data/docx_assets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2298860"/>
            <a:ext cx="6446520" cy="14136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0" y="3895825"/>
            <a:ext cx="6446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Рисунок 29 – Форма «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Организация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»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оказанных услуг и материалов в автосервисе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21587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1C: Предприятие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166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55308" y="1305063"/>
            <a:ext cx="10413732" cy="453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u-RU" sz="1600" dirty="0">
                <a:effectLst/>
                <a:ea typeface="Times New Roman" panose="02020603050405020304" pitchFamily="18" charset="0"/>
              </a:rPr>
              <a:t>	В ходе выполнения индивидуального задания была разработана конфигурация на платформе 1С: Предприятие для автоматизации работы автосервиса. В системе реализован учет клиентов, договоров, сотрудников, складов, номенклатуры услуг и материалов. Для отражения операций созданы документы «Приходная накладная» и «Оказание услуг». В конфигурации автоматизированы основные процессы: учет поступления материалов, списание материалов при оказании услуг, расчет итоговой суммы документа, хранение цен номенклатуры, контроль минимальных запасов и формирование управленческих отчетов. В работе использованы основные механизмы платформы 1С: справочники, документы, регистры сведений, регистры накопления, перечисления, отчеты, обработки, общие модули, роли пользователей и командный интерфейс. Разработанная конфигурация полезна для автосервиса, так как позволяет централизованно хранить данные, уменьшить количество ручных расчетов, контролировать материалы на складе и получать аналитическую информацию для руководителя. Таким образом, поставленные задачи были выполнены, а разработанная конфигурация позволяет автоматизировать учет оказанных услуг и материалов в автосервисе.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3799</Words>
  <Application>Microsoft Office PowerPoint</Application>
  <PresentationFormat>Широкоэкранный</PresentationFormat>
  <Paragraphs>587</Paragraphs>
  <Slides>53</Slides>
  <Notes>53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6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ЮФУ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индивидуальному заданию 1С</dc:title>
  <dc:subject>Учет оказанных услуг и материалов в автосервисе</dc:subject>
  <dc:creator>Дубовский Э.В.</dc:creator>
  <cp:lastModifiedBy>Eldar Dubovsky</cp:lastModifiedBy>
  <cp:revision>61</cp:revision>
  <dcterms:created xsi:type="dcterms:W3CDTF">2026-06-02T07:51:48Z</dcterms:created>
  <dcterms:modified xsi:type="dcterms:W3CDTF">2026-06-02T12:02:52Z</dcterms:modified>
</cp:coreProperties>
</file>